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94" r:id="rId2"/>
    <p:sldId id="283" r:id="rId3"/>
    <p:sldId id="288" r:id="rId4"/>
    <p:sldId id="295" r:id="rId5"/>
    <p:sldId id="289" r:id="rId6"/>
    <p:sldId id="291" r:id="rId7"/>
    <p:sldId id="290" r:id="rId8"/>
    <p:sldId id="267" r:id="rId9"/>
    <p:sldId id="292" r:id="rId10"/>
    <p:sldId id="282" r:id="rId11"/>
    <p:sldId id="293" r:id="rId12"/>
    <p:sldId id="29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>
        <p:scale>
          <a:sx n="75" d="100"/>
          <a:sy n="75" d="100"/>
        </p:scale>
        <p:origin x="73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8B2C70-0269-4992-B937-B5C5EF6EBFB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D0A6BC-0896-417F-9250-295CDEFAAB8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Month 1: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Requirement Analysis, Literature Survey, Finalize Proposal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A277F5E-ED1F-4C63-BD78-95824C687913}" type="parTrans" cxnId="{0D540E5E-6E1E-4F33-B428-D1126C97ECA3}">
      <dgm:prSet/>
      <dgm:spPr/>
      <dgm:t>
        <a:bodyPr/>
        <a:lstStyle/>
        <a:p>
          <a:endParaRPr lang="en-US"/>
        </a:p>
      </dgm:t>
    </dgm:pt>
    <dgm:pt modelId="{48E5D124-94A0-44B2-A4FC-3583FADD6E31}" type="sibTrans" cxnId="{0D540E5E-6E1E-4F33-B428-D1126C97ECA3}">
      <dgm:prSet/>
      <dgm:spPr/>
      <dgm:t>
        <a:bodyPr/>
        <a:lstStyle/>
        <a:p>
          <a:endParaRPr lang="en-US"/>
        </a:p>
      </dgm:t>
    </dgm:pt>
    <dgm:pt modelId="{29998D4E-700C-4747-A928-364DE7BEA86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Month 2: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System Design, Tech Stack, UI/UX Wireframes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5B32EB8-4050-44F3-BE09-481BE248EB25}" type="parTrans" cxnId="{5DC542B1-BE66-46E7-9972-2F38536ED878}">
      <dgm:prSet/>
      <dgm:spPr/>
      <dgm:t>
        <a:bodyPr/>
        <a:lstStyle/>
        <a:p>
          <a:endParaRPr lang="en-US"/>
        </a:p>
      </dgm:t>
    </dgm:pt>
    <dgm:pt modelId="{E76DCD83-A64D-431B-8425-E3C0BE164312}" type="sibTrans" cxnId="{5DC542B1-BE66-46E7-9972-2F38536ED878}">
      <dgm:prSet/>
      <dgm:spPr/>
      <dgm:t>
        <a:bodyPr/>
        <a:lstStyle/>
        <a:p>
          <a:endParaRPr lang="en-US"/>
        </a:p>
      </dgm:t>
    </dgm:pt>
    <dgm:pt modelId="{1AA4140F-341A-48D9-8904-5FF7B7D6C5E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Month 3: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App Frontend, Backend DB, Job Tracking (Alpha</a:t>
          </a:r>
          <a:r>
            <a:rPr lang="en-IN" dirty="0"/>
            <a:t>)</a:t>
          </a:r>
          <a:endParaRPr lang="en-US" dirty="0"/>
        </a:p>
      </dgm:t>
    </dgm:pt>
    <dgm:pt modelId="{F22DC626-7855-4C26-8FF9-37827158107A}" type="parTrans" cxnId="{E61DDBAB-0783-4444-B8B4-A2B19E2401CE}">
      <dgm:prSet/>
      <dgm:spPr/>
      <dgm:t>
        <a:bodyPr/>
        <a:lstStyle/>
        <a:p>
          <a:endParaRPr lang="en-US"/>
        </a:p>
      </dgm:t>
    </dgm:pt>
    <dgm:pt modelId="{18C19355-DB27-41C3-86F7-22EA8D29D02B}" type="sibTrans" cxnId="{E61DDBAB-0783-4444-B8B4-A2B19E2401CE}">
      <dgm:prSet/>
      <dgm:spPr/>
      <dgm:t>
        <a:bodyPr/>
        <a:lstStyle/>
        <a:p>
          <a:endParaRPr lang="en-US"/>
        </a:p>
      </dgm:t>
    </dgm:pt>
    <dgm:pt modelId="{927B4A12-29C6-433E-9340-F5CBE728B47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Month 4: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Analytics Engine, Dashboard, Issue Reporting (Beta)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84D8E57-F759-409F-B26C-0B5A3951342B}" type="parTrans" cxnId="{497DB0BE-8AD1-40B9-975B-933D71B2E7A4}">
      <dgm:prSet/>
      <dgm:spPr/>
      <dgm:t>
        <a:bodyPr/>
        <a:lstStyle/>
        <a:p>
          <a:endParaRPr lang="en-US"/>
        </a:p>
      </dgm:t>
    </dgm:pt>
    <dgm:pt modelId="{6A352D37-32F6-4A5C-9DE9-E0ACC8B10647}" type="sibTrans" cxnId="{497DB0BE-8AD1-40B9-975B-933D71B2E7A4}">
      <dgm:prSet/>
      <dgm:spPr/>
      <dgm:t>
        <a:bodyPr/>
        <a:lstStyle/>
        <a:p>
          <a:endParaRPr lang="en-US"/>
        </a:p>
      </dgm:t>
    </dgm:pt>
    <dgm:pt modelId="{2069E595-61A9-4AEE-BABB-F5ABF1F0408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Month 5: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Testing, Validation, Documentation, Final Demo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E597B6-AA7A-4EF2-8F29-3E659DB4DD70}" type="parTrans" cxnId="{3150B3CE-6422-488D-BF44-E36543B1D3FC}">
      <dgm:prSet/>
      <dgm:spPr/>
      <dgm:t>
        <a:bodyPr/>
        <a:lstStyle/>
        <a:p>
          <a:endParaRPr lang="en-US"/>
        </a:p>
      </dgm:t>
    </dgm:pt>
    <dgm:pt modelId="{7F8E00EF-AE1B-494E-A6A6-E6E70B0D2591}" type="sibTrans" cxnId="{3150B3CE-6422-488D-BF44-E36543B1D3FC}">
      <dgm:prSet/>
      <dgm:spPr/>
      <dgm:t>
        <a:bodyPr/>
        <a:lstStyle/>
        <a:p>
          <a:endParaRPr lang="en-US"/>
        </a:p>
      </dgm:t>
    </dgm:pt>
    <dgm:pt modelId="{E0C694B5-8DDC-47BB-B7CF-3F591B46C7F3}" type="pres">
      <dgm:prSet presAssocID="{A18B2C70-0269-4992-B937-B5C5EF6EBFBC}" presName="root" presStyleCnt="0">
        <dgm:presLayoutVars>
          <dgm:dir/>
          <dgm:resizeHandles val="exact"/>
        </dgm:presLayoutVars>
      </dgm:prSet>
      <dgm:spPr/>
    </dgm:pt>
    <dgm:pt modelId="{2B780B26-4BA1-48C2-81C6-0635E801149C}" type="pres">
      <dgm:prSet presAssocID="{9DD0A6BC-0896-417F-9250-295CDEFAAB85}" presName="compNode" presStyleCnt="0"/>
      <dgm:spPr/>
    </dgm:pt>
    <dgm:pt modelId="{E49BFD05-81E8-4265-AC1B-353142EE6940}" type="pres">
      <dgm:prSet presAssocID="{9DD0A6BC-0896-417F-9250-295CDEFAAB85}" presName="bgRect" presStyleLbl="bgShp" presStyleIdx="0" presStyleCnt="5" custLinFactNeighborY="-5967"/>
      <dgm:spPr/>
    </dgm:pt>
    <dgm:pt modelId="{38EFE741-C286-4F81-89D2-32B9797724CB}" type="pres">
      <dgm:prSet presAssocID="{9DD0A6BC-0896-417F-9250-295CDEFAAB8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41ABD8C8-6B9C-4489-9DB1-BE795DBC4CE4}" type="pres">
      <dgm:prSet presAssocID="{9DD0A6BC-0896-417F-9250-295CDEFAAB85}" presName="spaceRect" presStyleCnt="0"/>
      <dgm:spPr/>
    </dgm:pt>
    <dgm:pt modelId="{28341BC0-2413-415A-B677-9D6A39ED135D}" type="pres">
      <dgm:prSet presAssocID="{9DD0A6BC-0896-417F-9250-295CDEFAAB85}" presName="parTx" presStyleLbl="revTx" presStyleIdx="0" presStyleCnt="5">
        <dgm:presLayoutVars>
          <dgm:chMax val="0"/>
          <dgm:chPref val="0"/>
        </dgm:presLayoutVars>
      </dgm:prSet>
      <dgm:spPr/>
    </dgm:pt>
    <dgm:pt modelId="{DECAAC38-F2D3-42E9-ACCE-85240192A28D}" type="pres">
      <dgm:prSet presAssocID="{48E5D124-94A0-44B2-A4FC-3583FADD6E31}" presName="sibTrans" presStyleCnt="0"/>
      <dgm:spPr/>
    </dgm:pt>
    <dgm:pt modelId="{BE8FEDC8-E708-48CD-90A0-ABC3612E50BC}" type="pres">
      <dgm:prSet presAssocID="{29998D4E-700C-4747-A928-364DE7BEA866}" presName="compNode" presStyleCnt="0"/>
      <dgm:spPr/>
    </dgm:pt>
    <dgm:pt modelId="{264AA915-324C-4420-8F04-70A6C22464E6}" type="pres">
      <dgm:prSet presAssocID="{29998D4E-700C-4747-A928-364DE7BEA866}" presName="bgRect" presStyleLbl="bgShp" presStyleIdx="1" presStyleCnt="5"/>
      <dgm:spPr/>
    </dgm:pt>
    <dgm:pt modelId="{8894FAC9-110D-4716-8940-92FBB84CAC55}" type="pres">
      <dgm:prSet presAssocID="{29998D4E-700C-4747-A928-364DE7BEA86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ABD4F54-4365-4B56-B68D-762D19A5806F}" type="pres">
      <dgm:prSet presAssocID="{29998D4E-700C-4747-A928-364DE7BEA866}" presName="spaceRect" presStyleCnt="0"/>
      <dgm:spPr/>
    </dgm:pt>
    <dgm:pt modelId="{41797A1B-5D58-4233-B0CC-DB3BAA28B32A}" type="pres">
      <dgm:prSet presAssocID="{29998D4E-700C-4747-A928-364DE7BEA866}" presName="parTx" presStyleLbl="revTx" presStyleIdx="1" presStyleCnt="5">
        <dgm:presLayoutVars>
          <dgm:chMax val="0"/>
          <dgm:chPref val="0"/>
        </dgm:presLayoutVars>
      </dgm:prSet>
      <dgm:spPr/>
    </dgm:pt>
    <dgm:pt modelId="{ACFE2BAB-1B63-4C58-896E-A2983B3FEB17}" type="pres">
      <dgm:prSet presAssocID="{E76DCD83-A64D-431B-8425-E3C0BE164312}" presName="sibTrans" presStyleCnt="0"/>
      <dgm:spPr/>
    </dgm:pt>
    <dgm:pt modelId="{B834B0B9-6938-4C5C-B40E-B1535E9380CD}" type="pres">
      <dgm:prSet presAssocID="{1AA4140F-341A-48D9-8904-5FF7B7D6C5E4}" presName="compNode" presStyleCnt="0"/>
      <dgm:spPr/>
    </dgm:pt>
    <dgm:pt modelId="{C7399BBC-0DFC-4A23-AC48-B8F2BB5C319B}" type="pres">
      <dgm:prSet presAssocID="{1AA4140F-341A-48D9-8904-5FF7B7D6C5E4}" presName="bgRect" presStyleLbl="bgShp" presStyleIdx="2" presStyleCnt="5"/>
      <dgm:spPr/>
    </dgm:pt>
    <dgm:pt modelId="{D8B55805-4B93-4530-8FFC-0CFD3A947C0C}" type="pres">
      <dgm:prSet presAssocID="{1AA4140F-341A-48D9-8904-5FF7B7D6C5E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432F498-5D91-4AFF-84A1-A57D9F59D16D}" type="pres">
      <dgm:prSet presAssocID="{1AA4140F-341A-48D9-8904-5FF7B7D6C5E4}" presName="spaceRect" presStyleCnt="0"/>
      <dgm:spPr/>
    </dgm:pt>
    <dgm:pt modelId="{E5943EA3-3F45-471F-96F7-3E8BDC045B0F}" type="pres">
      <dgm:prSet presAssocID="{1AA4140F-341A-48D9-8904-5FF7B7D6C5E4}" presName="parTx" presStyleLbl="revTx" presStyleIdx="2" presStyleCnt="5">
        <dgm:presLayoutVars>
          <dgm:chMax val="0"/>
          <dgm:chPref val="0"/>
        </dgm:presLayoutVars>
      </dgm:prSet>
      <dgm:spPr/>
    </dgm:pt>
    <dgm:pt modelId="{E241A81B-6585-4F7A-887A-1E414D0F22EF}" type="pres">
      <dgm:prSet presAssocID="{18C19355-DB27-41C3-86F7-22EA8D29D02B}" presName="sibTrans" presStyleCnt="0"/>
      <dgm:spPr/>
    </dgm:pt>
    <dgm:pt modelId="{134ED9E2-5494-4176-8A0E-17B8258F7B96}" type="pres">
      <dgm:prSet presAssocID="{927B4A12-29C6-433E-9340-F5CBE728B474}" presName="compNode" presStyleCnt="0"/>
      <dgm:spPr/>
    </dgm:pt>
    <dgm:pt modelId="{9B39B0D9-82DD-4678-B7E9-378AD854CAAE}" type="pres">
      <dgm:prSet presAssocID="{927B4A12-29C6-433E-9340-F5CBE728B474}" presName="bgRect" presStyleLbl="bgShp" presStyleIdx="3" presStyleCnt="5"/>
      <dgm:spPr/>
    </dgm:pt>
    <dgm:pt modelId="{6B194736-A303-4A14-BC3B-2F246E809751}" type="pres">
      <dgm:prSet presAssocID="{927B4A12-29C6-433E-9340-F5CBE728B47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F55E6A55-9D7F-477D-B751-725FA5B99728}" type="pres">
      <dgm:prSet presAssocID="{927B4A12-29C6-433E-9340-F5CBE728B474}" presName="spaceRect" presStyleCnt="0"/>
      <dgm:spPr/>
    </dgm:pt>
    <dgm:pt modelId="{76C3AE02-80C7-411F-9C69-EB4734B9940B}" type="pres">
      <dgm:prSet presAssocID="{927B4A12-29C6-433E-9340-F5CBE728B474}" presName="parTx" presStyleLbl="revTx" presStyleIdx="3" presStyleCnt="5">
        <dgm:presLayoutVars>
          <dgm:chMax val="0"/>
          <dgm:chPref val="0"/>
        </dgm:presLayoutVars>
      </dgm:prSet>
      <dgm:spPr/>
    </dgm:pt>
    <dgm:pt modelId="{83FF2AF1-94D8-4773-9474-866790859A75}" type="pres">
      <dgm:prSet presAssocID="{6A352D37-32F6-4A5C-9DE9-E0ACC8B10647}" presName="sibTrans" presStyleCnt="0"/>
      <dgm:spPr/>
    </dgm:pt>
    <dgm:pt modelId="{01496E64-E077-40F4-8FF6-9D652C9767C5}" type="pres">
      <dgm:prSet presAssocID="{2069E595-61A9-4AEE-BABB-F5ABF1F04082}" presName="compNode" presStyleCnt="0"/>
      <dgm:spPr/>
    </dgm:pt>
    <dgm:pt modelId="{45E0B66D-1A4C-469E-B3B1-9B3AEEDEB409}" type="pres">
      <dgm:prSet presAssocID="{2069E595-61A9-4AEE-BABB-F5ABF1F04082}" presName="bgRect" presStyleLbl="bgShp" presStyleIdx="4" presStyleCnt="5"/>
      <dgm:spPr/>
    </dgm:pt>
    <dgm:pt modelId="{42273F18-47DE-4CA8-9E9C-4DE1373E3D14}" type="pres">
      <dgm:prSet presAssocID="{2069E595-61A9-4AEE-BABB-F5ABF1F0408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76AFE998-71B6-449A-9F62-754C85CF334B}" type="pres">
      <dgm:prSet presAssocID="{2069E595-61A9-4AEE-BABB-F5ABF1F04082}" presName="spaceRect" presStyleCnt="0"/>
      <dgm:spPr/>
    </dgm:pt>
    <dgm:pt modelId="{D87D273D-9B43-40DA-9FB9-D567ABBF425D}" type="pres">
      <dgm:prSet presAssocID="{2069E595-61A9-4AEE-BABB-F5ABF1F0408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2FA2B19-E0E4-4BE2-AE1E-9785A53A6792}" type="presOf" srcId="{2069E595-61A9-4AEE-BABB-F5ABF1F04082}" destId="{D87D273D-9B43-40DA-9FB9-D567ABBF425D}" srcOrd="0" destOrd="0" presId="urn:microsoft.com/office/officeart/2018/2/layout/IconVerticalSolidList"/>
    <dgm:cxn modelId="{90D4955B-CCA8-44FF-9502-5DDA472E4DDE}" type="presOf" srcId="{9DD0A6BC-0896-417F-9250-295CDEFAAB85}" destId="{28341BC0-2413-415A-B677-9D6A39ED135D}" srcOrd="0" destOrd="0" presId="urn:microsoft.com/office/officeart/2018/2/layout/IconVerticalSolidList"/>
    <dgm:cxn modelId="{0D540E5E-6E1E-4F33-B428-D1126C97ECA3}" srcId="{A18B2C70-0269-4992-B937-B5C5EF6EBFBC}" destId="{9DD0A6BC-0896-417F-9250-295CDEFAAB85}" srcOrd="0" destOrd="0" parTransId="{5A277F5E-ED1F-4C63-BD78-95824C687913}" sibTransId="{48E5D124-94A0-44B2-A4FC-3583FADD6E31}"/>
    <dgm:cxn modelId="{32366B85-1080-4E23-9A44-C71F4EA8BBDC}" type="presOf" srcId="{927B4A12-29C6-433E-9340-F5CBE728B474}" destId="{76C3AE02-80C7-411F-9C69-EB4734B9940B}" srcOrd="0" destOrd="0" presId="urn:microsoft.com/office/officeart/2018/2/layout/IconVerticalSolidList"/>
    <dgm:cxn modelId="{28651888-D0CB-4A84-89ED-37EB7F7822D3}" type="presOf" srcId="{A18B2C70-0269-4992-B937-B5C5EF6EBFBC}" destId="{E0C694B5-8DDC-47BB-B7CF-3F591B46C7F3}" srcOrd="0" destOrd="0" presId="urn:microsoft.com/office/officeart/2018/2/layout/IconVerticalSolidList"/>
    <dgm:cxn modelId="{E61DDBAB-0783-4444-B8B4-A2B19E2401CE}" srcId="{A18B2C70-0269-4992-B937-B5C5EF6EBFBC}" destId="{1AA4140F-341A-48D9-8904-5FF7B7D6C5E4}" srcOrd="2" destOrd="0" parTransId="{F22DC626-7855-4C26-8FF9-37827158107A}" sibTransId="{18C19355-DB27-41C3-86F7-22EA8D29D02B}"/>
    <dgm:cxn modelId="{5DC542B1-BE66-46E7-9972-2F38536ED878}" srcId="{A18B2C70-0269-4992-B937-B5C5EF6EBFBC}" destId="{29998D4E-700C-4747-A928-364DE7BEA866}" srcOrd="1" destOrd="0" parTransId="{85B32EB8-4050-44F3-BE09-481BE248EB25}" sibTransId="{E76DCD83-A64D-431B-8425-E3C0BE164312}"/>
    <dgm:cxn modelId="{DA28B2B5-5693-42E6-85B2-E4130CD6A6D9}" type="presOf" srcId="{1AA4140F-341A-48D9-8904-5FF7B7D6C5E4}" destId="{E5943EA3-3F45-471F-96F7-3E8BDC045B0F}" srcOrd="0" destOrd="0" presId="urn:microsoft.com/office/officeart/2018/2/layout/IconVerticalSolidList"/>
    <dgm:cxn modelId="{497DB0BE-8AD1-40B9-975B-933D71B2E7A4}" srcId="{A18B2C70-0269-4992-B937-B5C5EF6EBFBC}" destId="{927B4A12-29C6-433E-9340-F5CBE728B474}" srcOrd="3" destOrd="0" parTransId="{584D8E57-F759-409F-B26C-0B5A3951342B}" sibTransId="{6A352D37-32F6-4A5C-9DE9-E0ACC8B10647}"/>
    <dgm:cxn modelId="{61012DCD-2C79-49E6-920C-1CDCD8BE2AEA}" type="presOf" srcId="{29998D4E-700C-4747-A928-364DE7BEA866}" destId="{41797A1B-5D58-4233-B0CC-DB3BAA28B32A}" srcOrd="0" destOrd="0" presId="urn:microsoft.com/office/officeart/2018/2/layout/IconVerticalSolidList"/>
    <dgm:cxn modelId="{3150B3CE-6422-488D-BF44-E36543B1D3FC}" srcId="{A18B2C70-0269-4992-B937-B5C5EF6EBFBC}" destId="{2069E595-61A9-4AEE-BABB-F5ABF1F04082}" srcOrd="4" destOrd="0" parTransId="{8BE597B6-AA7A-4EF2-8F29-3E659DB4DD70}" sibTransId="{7F8E00EF-AE1B-494E-A6A6-E6E70B0D2591}"/>
    <dgm:cxn modelId="{04D33E6F-2CDB-4847-BD18-80D1548E6E3F}" type="presParOf" srcId="{E0C694B5-8DDC-47BB-B7CF-3F591B46C7F3}" destId="{2B780B26-4BA1-48C2-81C6-0635E801149C}" srcOrd="0" destOrd="0" presId="urn:microsoft.com/office/officeart/2018/2/layout/IconVerticalSolidList"/>
    <dgm:cxn modelId="{D788225D-9E9B-409D-874B-FF62D2FF694E}" type="presParOf" srcId="{2B780B26-4BA1-48C2-81C6-0635E801149C}" destId="{E49BFD05-81E8-4265-AC1B-353142EE6940}" srcOrd="0" destOrd="0" presId="urn:microsoft.com/office/officeart/2018/2/layout/IconVerticalSolidList"/>
    <dgm:cxn modelId="{A3203CED-0B58-4381-844A-AA8BC65FD83E}" type="presParOf" srcId="{2B780B26-4BA1-48C2-81C6-0635E801149C}" destId="{38EFE741-C286-4F81-89D2-32B9797724CB}" srcOrd="1" destOrd="0" presId="urn:microsoft.com/office/officeart/2018/2/layout/IconVerticalSolidList"/>
    <dgm:cxn modelId="{95BEC17D-82BA-4411-A9F9-2FA184FC9BFD}" type="presParOf" srcId="{2B780B26-4BA1-48C2-81C6-0635E801149C}" destId="{41ABD8C8-6B9C-4489-9DB1-BE795DBC4CE4}" srcOrd="2" destOrd="0" presId="urn:microsoft.com/office/officeart/2018/2/layout/IconVerticalSolidList"/>
    <dgm:cxn modelId="{13B47733-865F-4B92-B739-4FB31FD05BBE}" type="presParOf" srcId="{2B780B26-4BA1-48C2-81C6-0635E801149C}" destId="{28341BC0-2413-415A-B677-9D6A39ED135D}" srcOrd="3" destOrd="0" presId="urn:microsoft.com/office/officeart/2018/2/layout/IconVerticalSolidList"/>
    <dgm:cxn modelId="{5450FE9B-509D-4B49-B363-EC3DE3655D10}" type="presParOf" srcId="{E0C694B5-8DDC-47BB-B7CF-3F591B46C7F3}" destId="{DECAAC38-F2D3-42E9-ACCE-85240192A28D}" srcOrd="1" destOrd="0" presId="urn:microsoft.com/office/officeart/2018/2/layout/IconVerticalSolidList"/>
    <dgm:cxn modelId="{2DB6C4FE-3713-4694-9763-9404CF8711FA}" type="presParOf" srcId="{E0C694B5-8DDC-47BB-B7CF-3F591B46C7F3}" destId="{BE8FEDC8-E708-48CD-90A0-ABC3612E50BC}" srcOrd="2" destOrd="0" presId="urn:microsoft.com/office/officeart/2018/2/layout/IconVerticalSolidList"/>
    <dgm:cxn modelId="{216FFB3A-8D61-4D66-A242-C15E05F3E09B}" type="presParOf" srcId="{BE8FEDC8-E708-48CD-90A0-ABC3612E50BC}" destId="{264AA915-324C-4420-8F04-70A6C22464E6}" srcOrd="0" destOrd="0" presId="urn:microsoft.com/office/officeart/2018/2/layout/IconVerticalSolidList"/>
    <dgm:cxn modelId="{5A4AC4D1-9500-479D-B78D-8498B351EC22}" type="presParOf" srcId="{BE8FEDC8-E708-48CD-90A0-ABC3612E50BC}" destId="{8894FAC9-110D-4716-8940-92FBB84CAC55}" srcOrd="1" destOrd="0" presId="urn:microsoft.com/office/officeart/2018/2/layout/IconVerticalSolidList"/>
    <dgm:cxn modelId="{1B2331D8-D1E2-45F2-BFBD-2E6D9F915941}" type="presParOf" srcId="{BE8FEDC8-E708-48CD-90A0-ABC3612E50BC}" destId="{CABD4F54-4365-4B56-B68D-762D19A5806F}" srcOrd="2" destOrd="0" presId="urn:microsoft.com/office/officeart/2018/2/layout/IconVerticalSolidList"/>
    <dgm:cxn modelId="{E4B60CEF-018C-4C76-B05F-E6721FF180D5}" type="presParOf" srcId="{BE8FEDC8-E708-48CD-90A0-ABC3612E50BC}" destId="{41797A1B-5D58-4233-B0CC-DB3BAA28B32A}" srcOrd="3" destOrd="0" presId="urn:microsoft.com/office/officeart/2018/2/layout/IconVerticalSolidList"/>
    <dgm:cxn modelId="{F7E7573F-660E-438D-BF9B-D24492BA74B1}" type="presParOf" srcId="{E0C694B5-8DDC-47BB-B7CF-3F591B46C7F3}" destId="{ACFE2BAB-1B63-4C58-896E-A2983B3FEB17}" srcOrd="3" destOrd="0" presId="urn:microsoft.com/office/officeart/2018/2/layout/IconVerticalSolidList"/>
    <dgm:cxn modelId="{A8978615-984A-4169-8C3E-BE5AB113213E}" type="presParOf" srcId="{E0C694B5-8DDC-47BB-B7CF-3F591B46C7F3}" destId="{B834B0B9-6938-4C5C-B40E-B1535E9380CD}" srcOrd="4" destOrd="0" presId="urn:microsoft.com/office/officeart/2018/2/layout/IconVerticalSolidList"/>
    <dgm:cxn modelId="{C9777930-1CBC-4FD6-ADB6-87735D7F173F}" type="presParOf" srcId="{B834B0B9-6938-4C5C-B40E-B1535E9380CD}" destId="{C7399BBC-0DFC-4A23-AC48-B8F2BB5C319B}" srcOrd="0" destOrd="0" presId="urn:microsoft.com/office/officeart/2018/2/layout/IconVerticalSolidList"/>
    <dgm:cxn modelId="{A7835030-7E34-4F0A-8E13-1A55A0C86E82}" type="presParOf" srcId="{B834B0B9-6938-4C5C-B40E-B1535E9380CD}" destId="{D8B55805-4B93-4530-8FFC-0CFD3A947C0C}" srcOrd="1" destOrd="0" presId="urn:microsoft.com/office/officeart/2018/2/layout/IconVerticalSolidList"/>
    <dgm:cxn modelId="{47CA0436-BB31-42AA-9B76-A0892960BFE6}" type="presParOf" srcId="{B834B0B9-6938-4C5C-B40E-B1535E9380CD}" destId="{1432F498-5D91-4AFF-84A1-A57D9F59D16D}" srcOrd="2" destOrd="0" presId="urn:microsoft.com/office/officeart/2018/2/layout/IconVerticalSolidList"/>
    <dgm:cxn modelId="{F2294418-9D99-4E10-B9A7-E984083979C9}" type="presParOf" srcId="{B834B0B9-6938-4C5C-B40E-B1535E9380CD}" destId="{E5943EA3-3F45-471F-96F7-3E8BDC045B0F}" srcOrd="3" destOrd="0" presId="urn:microsoft.com/office/officeart/2018/2/layout/IconVerticalSolidList"/>
    <dgm:cxn modelId="{E42895B0-FD7E-4088-B632-E04FCBCD4DC3}" type="presParOf" srcId="{E0C694B5-8DDC-47BB-B7CF-3F591B46C7F3}" destId="{E241A81B-6585-4F7A-887A-1E414D0F22EF}" srcOrd="5" destOrd="0" presId="urn:microsoft.com/office/officeart/2018/2/layout/IconVerticalSolidList"/>
    <dgm:cxn modelId="{737C662E-E7B7-4BB8-B3B6-269E75A9574C}" type="presParOf" srcId="{E0C694B5-8DDC-47BB-B7CF-3F591B46C7F3}" destId="{134ED9E2-5494-4176-8A0E-17B8258F7B96}" srcOrd="6" destOrd="0" presId="urn:microsoft.com/office/officeart/2018/2/layout/IconVerticalSolidList"/>
    <dgm:cxn modelId="{7D57BA72-39E8-492C-A99F-1A042141B18F}" type="presParOf" srcId="{134ED9E2-5494-4176-8A0E-17B8258F7B96}" destId="{9B39B0D9-82DD-4678-B7E9-378AD854CAAE}" srcOrd="0" destOrd="0" presId="urn:microsoft.com/office/officeart/2018/2/layout/IconVerticalSolidList"/>
    <dgm:cxn modelId="{8414EECE-5A9A-4B48-8678-803D1B5BFE7A}" type="presParOf" srcId="{134ED9E2-5494-4176-8A0E-17B8258F7B96}" destId="{6B194736-A303-4A14-BC3B-2F246E809751}" srcOrd="1" destOrd="0" presId="urn:microsoft.com/office/officeart/2018/2/layout/IconVerticalSolidList"/>
    <dgm:cxn modelId="{8E2071EC-E449-4D7D-8FDF-8A8D9945BA42}" type="presParOf" srcId="{134ED9E2-5494-4176-8A0E-17B8258F7B96}" destId="{F55E6A55-9D7F-477D-B751-725FA5B99728}" srcOrd="2" destOrd="0" presId="urn:microsoft.com/office/officeart/2018/2/layout/IconVerticalSolidList"/>
    <dgm:cxn modelId="{84C98411-C4F4-4815-BF21-64BDDC63FD1B}" type="presParOf" srcId="{134ED9E2-5494-4176-8A0E-17B8258F7B96}" destId="{76C3AE02-80C7-411F-9C69-EB4734B9940B}" srcOrd="3" destOrd="0" presId="urn:microsoft.com/office/officeart/2018/2/layout/IconVerticalSolidList"/>
    <dgm:cxn modelId="{B7BFFF49-AA8D-4E5C-AE8A-CCCFF50FE245}" type="presParOf" srcId="{E0C694B5-8DDC-47BB-B7CF-3F591B46C7F3}" destId="{83FF2AF1-94D8-4773-9474-866790859A75}" srcOrd="7" destOrd="0" presId="urn:microsoft.com/office/officeart/2018/2/layout/IconVerticalSolidList"/>
    <dgm:cxn modelId="{0AF2A15B-525A-417F-A1F0-0524D0277B94}" type="presParOf" srcId="{E0C694B5-8DDC-47BB-B7CF-3F591B46C7F3}" destId="{01496E64-E077-40F4-8FF6-9D652C9767C5}" srcOrd="8" destOrd="0" presId="urn:microsoft.com/office/officeart/2018/2/layout/IconVerticalSolidList"/>
    <dgm:cxn modelId="{E38EADAD-D697-4A0F-B730-5BD3633547EE}" type="presParOf" srcId="{01496E64-E077-40F4-8FF6-9D652C9767C5}" destId="{45E0B66D-1A4C-469E-B3B1-9B3AEEDEB409}" srcOrd="0" destOrd="0" presId="urn:microsoft.com/office/officeart/2018/2/layout/IconVerticalSolidList"/>
    <dgm:cxn modelId="{104E4724-515B-435D-BC7C-FE7BD67C77FA}" type="presParOf" srcId="{01496E64-E077-40F4-8FF6-9D652C9767C5}" destId="{42273F18-47DE-4CA8-9E9C-4DE1373E3D14}" srcOrd="1" destOrd="0" presId="urn:microsoft.com/office/officeart/2018/2/layout/IconVerticalSolidList"/>
    <dgm:cxn modelId="{0437B5BB-3DCE-4E90-956A-568BDDD6C156}" type="presParOf" srcId="{01496E64-E077-40F4-8FF6-9D652C9767C5}" destId="{76AFE998-71B6-449A-9F62-754C85CF334B}" srcOrd="2" destOrd="0" presId="urn:microsoft.com/office/officeart/2018/2/layout/IconVerticalSolidList"/>
    <dgm:cxn modelId="{AF542A3B-CE28-4B49-9FF3-EFC630D95075}" type="presParOf" srcId="{01496E64-E077-40F4-8FF6-9D652C9767C5}" destId="{D87D273D-9B43-40DA-9FB9-D567ABBF425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BFD05-81E8-4265-AC1B-353142EE6940}">
      <dsp:nvSpPr>
        <dsp:cNvPr id="0" name=""/>
        <dsp:cNvSpPr/>
      </dsp:nvSpPr>
      <dsp:spPr>
        <a:xfrm>
          <a:off x="0" y="0"/>
          <a:ext cx="9123218" cy="5224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EFE741-C286-4F81-89D2-32B9797724CB}">
      <dsp:nvSpPr>
        <dsp:cNvPr id="0" name=""/>
        <dsp:cNvSpPr/>
      </dsp:nvSpPr>
      <dsp:spPr>
        <a:xfrm>
          <a:off x="158026" y="119993"/>
          <a:ext cx="287321" cy="2873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341BC0-2413-415A-B677-9D6A39ED135D}">
      <dsp:nvSpPr>
        <dsp:cNvPr id="0" name=""/>
        <dsp:cNvSpPr/>
      </dsp:nvSpPr>
      <dsp:spPr>
        <a:xfrm>
          <a:off x="603375" y="2452"/>
          <a:ext cx="8519842" cy="522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88" tIns="55288" rIns="55288" bIns="552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Month 1:</a:t>
          </a: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Requirement Analysis, Literature Survey, Finalize Proposal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3375" y="2452"/>
        <a:ext cx="8519842" cy="522402"/>
      </dsp:txXfrm>
    </dsp:sp>
    <dsp:sp modelId="{264AA915-324C-4420-8F04-70A6C22464E6}">
      <dsp:nvSpPr>
        <dsp:cNvPr id="0" name=""/>
        <dsp:cNvSpPr/>
      </dsp:nvSpPr>
      <dsp:spPr>
        <a:xfrm>
          <a:off x="0" y="655455"/>
          <a:ext cx="9123218" cy="5224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94FAC9-110D-4716-8940-92FBB84CAC55}">
      <dsp:nvSpPr>
        <dsp:cNvPr id="0" name=""/>
        <dsp:cNvSpPr/>
      </dsp:nvSpPr>
      <dsp:spPr>
        <a:xfrm>
          <a:off x="158026" y="772996"/>
          <a:ext cx="287321" cy="2873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797A1B-5D58-4233-B0CC-DB3BAA28B32A}">
      <dsp:nvSpPr>
        <dsp:cNvPr id="0" name=""/>
        <dsp:cNvSpPr/>
      </dsp:nvSpPr>
      <dsp:spPr>
        <a:xfrm>
          <a:off x="603375" y="655455"/>
          <a:ext cx="8519842" cy="522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88" tIns="55288" rIns="55288" bIns="552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Month 2:</a:t>
          </a: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System Design, Tech Stack, UI/UX Wireframes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3375" y="655455"/>
        <a:ext cx="8519842" cy="522402"/>
      </dsp:txXfrm>
    </dsp:sp>
    <dsp:sp modelId="{C7399BBC-0DFC-4A23-AC48-B8F2BB5C319B}">
      <dsp:nvSpPr>
        <dsp:cNvPr id="0" name=""/>
        <dsp:cNvSpPr/>
      </dsp:nvSpPr>
      <dsp:spPr>
        <a:xfrm>
          <a:off x="0" y="1308459"/>
          <a:ext cx="9123218" cy="5224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B55805-4B93-4530-8FFC-0CFD3A947C0C}">
      <dsp:nvSpPr>
        <dsp:cNvPr id="0" name=""/>
        <dsp:cNvSpPr/>
      </dsp:nvSpPr>
      <dsp:spPr>
        <a:xfrm>
          <a:off x="158026" y="1425999"/>
          <a:ext cx="287321" cy="2873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943EA3-3F45-471F-96F7-3E8BDC045B0F}">
      <dsp:nvSpPr>
        <dsp:cNvPr id="0" name=""/>
        <dsp:cNvSpPr/>
      </dsp:nvSpPr>
      <dsp:spPr>
        <a:xfrm>
          <a:off x="603375" y="1308459"/>
          <a:ext cx="8519842" cy="522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88" tIns="55288" rIns="55288" bIns="552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Month 3:</a:t>
          </a: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App Frontend, Backend DB, Job Tracking (Alpha</a:t>
          </a:r>
          <a:r>
            <a:rPr lang="en-IN" sz="1900" kern="1200" dirty="0"/>
            <a:t>)</a:t>
          </a:r>
          <a:endParaRPr lang="en-US" sz="1900" kern="1200" dirty="0"/>
        </a:p>
      </dsp:txBody>
      <dsp:txXfrm>
        <a:off x="603375" y="1308459"/>
        <a:ext cx="8519842" cy="522402"/>
      </dsp:txXfrm>
    </dsp:sp>
    <dsp:sp modelId="{9B39B0D9-82DD-4678-B7E9-378AD854CAAE}">
      <dsp:nvSpPr>
        <dsp:cNvPr id="0" name=""/>
        <dsp:cNvSpPr/>
      </dsp:nvSpPr>
      <dsp:spPr>
        <a:xfrm>
          <a:off x="0" y="1961462"/>
          <a:ext cx="9123218" cy="5224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194736-A303-4A14-BC3B-2F246E809751}">
      <dsp:nvSpPr>
        <dsp:cNvPr id="0" name=""/>
        <dsp:cNvSpPr/>
      </dsp:nvSpPr>
      <dsp:spPr>
        <a:xfrm>
          <a:off x="158026" y="2079003"/>
          <a:ext cx="287321" cy="2873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C3AE02-80C7-411F-9C69-EB4734B9940B}">
      <dsp:nvSpPr>
        <dsp:cNvPr id="0" name=""/>
        <dsp:cNvSpPr/>
      </dsp:nvSpPr>
      <dsp:spPr>
        <a:xfrm>
          <a:off x="603375" y="1961462"/>
          <a:ext cx="8519842" cy="522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88" tIns="55288" rIns="55288" bIns="552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Month 4:</a:t>
          </a: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Analytics Engine, Dashboard, Issue Reporting (Beta)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3375" y="1961462"/>
        <a:ext cx="8519842" cy="522402"/>
      </dsp:txXfrm>
    </dsp:sp>
    <dsp:sp modelId="{45E0B66D-1A4C-469E-B3B1-9B3AEEDEB409}">
      <dsp:nvSpPr>
        <dsp:cNvPr id="0" name=""/>
        <dsp:cNvSpPr/>
      </dsp:nvSpPr>
      <dsp:spPr>
        <a:xfrm>
          <a:off x="0" y="2614465"/>
          <a:ext cx="9123218" cy="5224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273F18-47DE-4CA8-9E9C-4DE1373E3D14}">
      <dsp:nvSpPr>
        <dsp:cNvPr id="0" name=""/>
        <dsp:cNvSpPr/>
      </dsp:nvSpPr>
      <dsp:spPr>
        <a:xfrm>
          <a:off x="158026" y="2732006"/>
          <a:ext cx="287321" cy="28732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7D273D-9B43-40DA-9FB9-D567ABBF425D}">
      <dsp:nvSpPr>
        <dsp:cNvPr id="0" name=""/>
        <dsp:cNvSpPr/>
      </dsp:nvSpPr>
      <dsp:spPr>
        <a:xfrm>
          <a:off x="603375" y="2614465"/>
          <a:ext cx="8519842" cy="522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88" tIns="55288" rIns="55288" bIns="552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Month 5:</a:t>
          </a: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Testing, Validation, Documentation, Final Demo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3375" y="2614465"/>
        <a:ext cx="8519842" cy="5224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838E2-D882-4245-809D-AFE8E2A76CB4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51E0F-DCCA-4CF4-A5D7-7E946EE6DE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309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a420aca26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2a420aca26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57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26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34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77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52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01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64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683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F6094-C550-6705-7433-AAE702D0B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024C77-1B86-9CF6-957F-4F28AA13C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F297B-1EE2-9A70-4E85-9A0CC3A3D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847F-AB44-408B-814E-4B73856DCD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57C5B-89E2-4908-2564-CF3C70A4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E4C6-4516-715F-FE55-0E951D0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159E-EC10-4180-8D73-376C3D4F8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9624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B6533-76E5-F4C3-6F99-F968AB691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73F77-C17A-FB0B-FA9F-B7224E07B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AE66B-9B67-1A05-CED9-D13861707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847F-AB44-408B-814E-4B73856DCD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13421-4BD3-0116-CD43-F5CBD9724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58C32-1D5B-A49C-0E69-17A76BA8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159E-EC10-4180-8D73-376C3D4F8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0667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8F26B-D40D-E496-B8BD-4E87D9E04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2B51D-D202-3573-6B80-E59E1F1A2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C2D11-8A94-C44F-49BC-3E379F65F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847F-AB44-408B-814E-4B73856DCD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496D1-BA70-1D20-4FE2-BF119C86F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54BEB-8408-ECFC-CF64-9F1D7A6E5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159E-EC10-4180-8D73-376C3D4F8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6328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E75FF-9304-4F3E-62C6-A81CD754E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6FC80-FBDF-C9AF-1AA5-4646EA95F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5033F-4BF4-56EC-28DE-6235A126D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3147E-FA71-E074-8A55-F85020EA9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847F-AB44-408B-814E-4B73856DCD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57165-A115-2CFE-C698-38F34B8E3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F4723-AEFC-459E-ABD5-934D85C2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159E-EC10-4180-8D73-376C3D4F8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4285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98E61-612B-7933-4290-37E98461E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AC4D3-3E94-0386-EFA1-CE819A97C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39402-58DF-4A1C-9CD0-4F585B372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939175-BF4C-3E33-2DDA-582E3234E1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6E8276-6401-A555-DC31-6A83292FF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0C5B7D-86DE-8E60-1D59-3F2AA0E38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847F-AB44-408B-814E-4B73856DCD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E818AC-7CD2-16D2-936C-619CDF062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B17363-9400-FCC1-1C48-830B32EB6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159E-EC10-4180-8D73-376C3D4F8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1394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C8082-60F0-585A-FF2E-EED02D2AF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31CFD6-FB71-26CC-0D50-6F6DF8607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847F-AB44-408B-814E-4B73856DCD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E135DA-2843-7DD1-B8FB-9846B6BAD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D47AF3-C009-8630-C90B-1DA58800F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159E-EC10-4180-8D73-376C3D4F8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7314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5B4BF4-D786-EDA4-CBB1-3FAEC4D99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847F-AB44-408B-814E-4B73856DCD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7256AE-FDCF-829A-2479-0FEE79C09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D8F33-0FD1-2EEC-001F-2E5095DB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159E-EC10-4180-8D73-376C3D4F8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2617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E31CC-C929-2863-5050-3717046AE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2A601-584E-33AC-3F80-967D0B49A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F8EA4-8A43-FF7B-0910-3BA5C2806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7ABFE-7BAA-FDBA-42E8-2A02F3B3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847F-AB44-408B-814E-4B73856DCD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6CB3C-CB36-8B65-250B-91B5430CC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90B0D-BDA7-E4C5-1769-375D7FAA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159E-EC10-4180-8D73-376C3D4F8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1530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6BA7C-7FF9-1143-535A-6BC6D6CF4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D724-77B9-6180-75A4-1B0A2761F8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D0292-411F-5F4A-97B9-6B5866AA5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B247F-219C-81EE-DFDD-276C2C5F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847F-AB44-408B-814E-4B73856DCD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252EB-E322-5E63-6514-1E64E3FB7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3478D-E1FB-DF40-8262-D77291E39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159E-EC10-4180-8D73-376C3D4F8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1409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0A1D8-8AC3-A623-E9A3-E921ADFB4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2E837-FD4F-BC39-5B5D-B3608FC64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68F27-0C5D-13C8-E390-3A71D9706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847F-AB44-408B-814E-4B73856DCD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65129-CD5D-0152-5765-7F9EE3B6F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51956-2458-7DDD-A5B4-650B53D9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159E-EC10-4180-8D73-376C3D4F8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599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59BDF5-68A6-AC48-B336-EC8062DAA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249B3-D039-B8DA-0393-47C6C5C94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8CD2D-2B6F-68C7-EA73-6DB6A51B2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C847F-AB44-408B-814E-4B73856DCD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D4207-B363-4DA7-BE89-51FABFE4B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5AD2D-4C23-490F-F503-1B689EC3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6159E-EC10-4180-8D73-376C3D4F8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7933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72621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21866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11F465-BE69-937E-BEC4-280EF643F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A1B1D-5DE4-8082-F507-B8BBAA713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D64D6-F800-91DB-1007-0903E8710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7C847F-AB44-408B-814E-4B73856DCD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797F0-CCD4-DDF4-4E6F-206212CE6D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FE678-EF0A-D6FB-E9C9-B743DEA87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B6159E-EC10-4180-8D73-376C3D4F8D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682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210.01344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mdpi.com/2079-9292/14/8/1663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researchgate.net/publication/360159082_Worker-Machine_Relationship_Based_Strategy_for_Sustainable_Management_in_A_Machine_Shop" TargetMode="External"/><Relationship Id="rId5" Type="http://schemas.openxmlformats.org/officeDocument/2006/relationships/hyperlink" Target="https://sciprofiles.com/profile/author/YnhCV2xla2ZsMjM2US9BZ1pNZ2ZBZz09?utm_source=chatgpt.com" TargetMode="External"/><Relationship Id="rId10" Type="http://schemas.openxmlformats.org/officeDocument/2006/relationships/hyperlink" Target="https://link.springer.com/article/10.1007/s00170-024-14238-8" TargetMode="External"/><Relationship Id="rId4" Type="http://schemas.openxmlformats.org/officeDocument/2006/relationships/hyperlink" Target="https://www.citedrive.com/en/discovery/effects-of-feedback-in-manufacturing-a-field-experiment-using-smartwatch-technology/?utm_source=chatgpt.com" TargetMode="External"/><Relationship Id="rId9" Type="http://schemas.openxmlformats.org/officeDocument/2006/relationships/hyperlink" Target="https://arxiv.org/abs/2301.12495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ulip.co/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getmaintainx.com/" TargetMode="External"/><Relationship Id="rId5" Type="http://schemas.openxmlformats.org/officeDocument/2006/relationships/hyperlink" Target="https://www.autodesk.com/prodsmart" TargetMode="External"/><Relationship Id="rId4" Type="http://schemas.openxmlformats.org/officeDocument/2006/relationships/hyperlink" Target="https://www.onupkeep.com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6"/>
          <p:cNvSpPr/>
          <p:nvPr/>
        </p:nvSpPr>
        <p:spPr>
          <a:xfrm rot="5400000">
            <a:off x="5576928" y="-2632855"/>
            <a:ext cx="1436291" cy="6702000"/>
          </a:xfrm>
          <a:prstGeom prst="rect">
            <a:avLst/>
          </a:prstGeom>
          <a:solidFill>
            <a:srgbClr val="908269">
              <a:alpha val="861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61" name="Google Shape;161;p36"/>
          <p:cNvSpPr/>
          <p:nvPr/>
        </p:nvSpPr>
        <p:spPr>
          <a:xfrm rot="-5400000" flipH="1">
            <a:off x="9805600" y="3222067"/>
            <a:ext cx="4478400" cy="29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AE7329B3-3EE6-9C9A-3621-9CC87700D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37" y="169335"/>
            <a:ext cx="2610220" cy="1073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13789F-E0BE-2AD4-2C74-011D861C555B}"/>
              </a:ext>
            </a:extLst>
          </p:cNvPr>
          <p:cNvSpPr txBox="1"/>
          <p:nvPr/>
        </p:nvSpPr>
        <p:spPr>
          <a:xfrm>
            <a:off x="4247890" y="1739870"/>
            <a:ext cx="3858057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733" b="1" i="1" dirty="0">
                <a:solidFill>
                  <a:srgbClr val="FF0000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 </a:t>
            </a:r>
            <a:r>
              <a:rPr lang="en-US" altLang="en-US" sz="3733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</a:t>
            </a:r>
            <a:endParaRPr lang="en-US" altLang="en-US" sz="3733" b="1" i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733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CAACB5-C36E-1B0D-FB13-17B4DC84D8BF}"/>
              </a:ext>
            </a:extLst>
          </p:cNvPr>
          <p:cNvSpPr txBox="1"/>
          <p:nvPr/>
        </p:nvSpPr>
        <p:spPr>
          <a:xfrm>
            <a:off x="640233" y="2424947"/>
            <a:ext cx="10464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Shop-Floor Monitoring and Efficiency Tracking System</a:t>
            </a:r>
            <a:endParaRPr lang="en-IN" sz="3733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B34D5C7-8BA5-A082-4085-A30986205888}"/>
              </a:ext>
            </a:extLst>
          </p:cNvPr>
          <p:cNvSpPr txBox="1">
            <a:spLocks/>
          </p:cNvSpPr>
          <p:nvPr/>
        </p:nvSpPr>
        <p:spPr>
          <a:xfrm>
            <a:off x="782751" y="3253781"/>
            <a:ext cx="10179629" cy="329030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65751" indent="-365751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endParaRPr lang="en-US" sz="1467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51" indent="-365751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en-US" sz="30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</a:t>
            </a:r>
            <a:r>
              <a:rPr lang="en-US" sz="3067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  <a:r>
              <a:rPr lang="en-US" sz="30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                   </a:t>
            </a:r>
          </a:p>
          <a:p>
            <a:pPr marL="365751" indent="-365751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en-US" sz="30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067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</a:t>
            </a:r>
            <a:r>
              <a:rPr lang="en-US" sz="3333" b="1" i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Prof.S.S.Patil</a:t>
            </a:r>
            <a:r>
              <a:rPr lang="en-US" sz="3067" b="1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067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ctr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en-US" sz="3067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Group No:  MP07</a:t>
            </a:r>
          </a:p>
          <a:p>
            <a:pPr algn="ctr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endParaRPr lang="en-US" sz="3867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en-US" sz="3867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</a:t>
            </a:r>
            <a:r>
              <a:rPr lang="en-US" sz="3867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Projectees</a:t>
            </a:r>
            <a:endParaRPr lang="en-US" sz="3867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endParaRPr lang="en-US" sz="3067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51" indent="-365751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en-US" sz="3067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1) </a:t>
            </a:r>
            <a:r>
              <a:rPr lang="en-US" sz="2933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SALOKHE ANIRUDDHA PRADEEP                                        </a:t>
            </a:r>
            <a:r>
              <a:rPr lang="en-US" sz="3067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333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933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DESAI SHRYEAS NILESH </a:t>
            </a:r>
          </a:p>
          <a:p>
            <a:pPr marL="365751" indent="-365751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en-US" sz="3067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</a:p>
          <a:p>
            <a:pPr marL="365751" indent="-365751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en-US" sz="3067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3) </a:t>
            </a:r>
            <a:r>
              <a:rPr lang="en-US" sz="2933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GARUD ASHUTOSH MILIND                                                   4) KASHID RICHALI RAHUL </a:t>
            </a:r>
            <a:endParaRPr lang="en-US" sz="3467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51" indent="-365751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                              </a:t>
            </a:r>
            <a:r>
              <a:rPr lang="en-US" sz="2933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DULHANI DHEERAJ RAKESH</a:t>
            </a:r>
            <a:endParaRPr lang="en-US" sz="3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03FDD76-2D5D-09FF-E45B-C4301E3B3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437" y="35971"/>
            <a:ext cx="11440964" cy="1364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303338" algn="r"/>
                <a:tab pos="2865438" algn="ctr"/>
                <a:tab pos="5730875" algn="r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303338" algn="r"/>
                <a:tab pos="2865438" algn="ctr"/>
                <a:tab pos="5730875" algn="r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303338" algn="r"/>
                <a:tab pos="2865438" algn="ctr"/>
                <a:tab pos="5730875" algn="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303338" algn="r"/>
                <a:tab pos="2865438" algn="ctr"/>
                <a:tab pos="5730875" algn="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303338" algn="r"/>
                <a:tab pos="2865438" algn="ctr"/>
                <a:tab pos="5730875" algn="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303338" algn="r"/>
                <a:tab pos="2865438" algn="ctr"/>
                <a:tab pos="5730875" algn="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303338" algn="r"/>
                <a:tab pos="2865438" algn="ctr"/>
                <a:tab pos="5730875" algn="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303338" algn="r"/>
                <a:tab pos="2865438" algn="ctr"/>
                <a:tab pos="5730875" algn="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303338" algn="r"/>
                <a:tab pos="2865438" algn="ctr"/>
                <a:tab pos="5730875" algn="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133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KOLHAPUR INSTITUTE OF TECHNOLOGY’S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133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COLLEGE OF </a:t>
            </a:r>
            <a:r>
              <a:rPr lang="en-US" altLang="en-US" sz="1867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</a:t>
            </a:r>
            <a:r>
              <a:rPr lang="en-US" altLang="en-US" sz="2133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KOLHAPUR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133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(EMPOWERED AUTONOMOUS)</a:t>
            </a:r>
            <a:endParaRPr lang="en-US" altLang="en-US" sz="1333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67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Mechanical</a:t>
            </a:r>
            <a:endParaRPr lang="en-US" altLang="en-US" sz="1867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78904329-9E7C-3E8B-5A00-B93590569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0335" y="5645"/>
            <a:ext cx="1261665" cy="59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A9C798-9A5D-E66E-A5C3-8337B0516B62}"/>
              </a:ext>
            </a:extLst>
          </p:cNvPr>
          <p:cNvSpPr txBox="1"/>
          <p:nvPr/>
        </p:nvSpPr>
        <p:spPr>
          <a:xfrm>
            <a:off x="4498235" y="6505241"/>
            <a:ext cx="319553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 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1643C9E5-F920-5BD9-516A-95C619E41BD3}"/>
              </a:ext>
            </a:extLst>
          </p:cNvPr>
          <p:cNvSpPr/>
          <p:nvPr/>
        </p:nvSpPr>
        <p:spPr>
          <a:xfrm>
            <a:off x="800101" y="208059"/>
            <a:ext cx="9372599" cy="78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250000"/>
              </a:lnSpc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Shop-Floor Monitoring and Efficiency Tracking System</a:t>
            </a:r>
            <a:endParaRPr lang="en-US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C2EB2B3-6678-1BEB-7185-8E61B2BEA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1" y="1482477"/>
            <a:ext cx="8424166" cy="333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title </a:t>
            </a: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“Smart Shop-Floor Monitoring and Efficiency Tracking System”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apt because: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directly addresses limitations of manual data entry in machine shops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real-time tracking of operator attendance, cycle time, and job counts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errors and improves transparency in productivity monitoring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actionable insights for better decision-making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Introduces digital automation, making the system efficient and impactful</a:t>
            </a:r>
          </a:p>
        </p:txBody>
      </p:sp>
    </p:spTree>
    <p:extLst>
      <p:ext uri="{BB962C8B-B14F-4D97-AF65-F5344CB8AC3E}">
        <p14:creationId xmlns:p14="http://schemas.microsoft.com/office/powerpoint/2010/main" val="42343073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874" y="609761"/>
            <a:ext cx="475128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66"/>
              </a:lnSpc>
            </a:pPr>
            <a:r>
              <a:rPr lang="en-IN" sz="3667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667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13DA9D42-971B-E079-D374-53A2CEF46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0335" y="16036"/>
            <a:ext cx="1261665" cy="59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99E112-EAF6-93EA-18A4-474E99A2C2D1}"/>
              </a:ext>
            </a:extLst>
          </p:cNvPr>
          <p:cNvSpPr txBox="1"/>
          <p:nvPr/>
        </p:nvSpPr>
        <p:spPr>
          <a:xfrm>
            <a:off x="4498235" y="6515632"/>
            <a:ext cx="319553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 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2739FB-FDB2-E21E-F47C-BD2161E9967D}"/>
              </a:ext>
            </a:extLst>
          </p:cNvPr>
          <p:cNvSpPr txBox="1"/>
          <p:nvPr/>
        </p:nvSpPr>
        <p:spPr>
          <a:xfrm>
            <a:off x="631874" y="1691400"/>
            <a:ext cx="106838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small &amp; medium machine shops, production details are tracked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Supervisors record: worker in/out time, cycle time, job counts, downtime.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Error-prone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Lacks real-time visibility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logging of: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breakdowns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life usage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efficiency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114F5C-CEA6-DCC8-68C1-8A59D31F5042}"/>
              </a:ext>
            </a:extLst>
          </p:cNvPr>
          <p:cNvSpPr txBox="1"/>
          <p:nvPr/>
        </p:nvSpPr>
        <p:spPr>
          <a:xfrm>
            <a:off x="631874" y="5133109"/>
            <a:ext cx="107981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strong need for an operator-friendly digital solution that automates data collection and provides actionable insights.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78904329-9E7C-3E8B-5A00-B93590569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0335" y="5645"/>
            <a:ext cx="1261665" cy="59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A9C798-9A5D-E66E-A5C3-8337B0516B62}"/>
              </a:ext>
            </a:extLst>
          </p:cNvPr>
          <p:cNvSpPr txBox="1"/>
          <p:nvPr/>
        </p:nvSpPr>
        <p:spPr>
          <a:xfrm>
            <a:off x="4498235" y="6505241"/>
            <a:ext cx="319553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 </a:t>
            </a:r>
          </a:p>
          <a:p>
            <a:endParaRPr lang="en-IN" sz="15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ED5841-34DA-E11F-CD66-3BE267605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89"/>
              </p:ext>
            </p:extLst>
          </p:nvPr>
        </p:nvGraphicFramePr>
        <p:xfrm>
          <a:off x="435967" y="910385"/>
          <a:ext cx="10851795" cy="5594856"/>
        </p:xfrm>
        <a:graphic>
          <a:graphicData uri="http://schemas.openxmlformats.org/drawingml/2006/table">
            <a:tbl>
              <a:tblPr/>
              <a:tblGrid>
                <a:gridCol w="588874">
                  <a:extLst>
                    <a:ext uri="{9D8B030D-6E8A-4147-A177-3AD203B41FA5}">
                      <a16:colId xmlns:a16="http://schemas.microsoft.com/office/drawing/2014/main" val="1577199818"/>
                    </a:ext>
                  </a:extLst>
                </a:gridCol>
                <a:gridCol w="3811319">
                  <a:extLst>
                    <a:ext uri="{9D8B030D-6E8A-4147-A177-3AD203B41FA5}">
                      <a16:colId xmlns:a16="http://schemas.microsoft.com/office/drawing/2014/main" val="3054245283"/>
                    </a:ext>
                  </a:extLst>
                </a:gridCol>
                <a:gridCol w="2110884">
                  <a:extLst>
                    <a:ext uri="{9D8B030D-6E8A-4147-A177-3AD203B41FA5}">
                      <a16:colId xmlns:a16="http://schemas.microsoft.com/office/drawing/2014/main" val="2368726615"/>
                    </a:ext>
                  </a:extLst>
                </a:gridCol>
                <a:gridCol w="2170359">
                  <a:extLst>
                    <a:ext uri="{9D8B030D-6E8A-4147-A177-3AD203B41FA5}">
                      <a16:colId xmlns:a16="http://schemas.microsoft.com/office/drawing/2014/main" val="3533342247"/>
                    </a:ext>
                  </a:extLst>
                </a:gridCol>
                <a:gridCol w="2170359">
                  <a:extLst>
                    <a:ext uri="{9D8B030D-6E8A-4147-A177-3AD203B41FA5}">
                      <a16:colId xmlns:a16="http://schemas.microsoft.com/office/drawing/2014/main" val="3389761816"/>
                    </a:ext>
                  </a:extLst>
                </a:gridCol>
              </a:tblGrid>
              <a:tr h="72713">
                <a:tc>
                  <a:txBody>
                    <a:bodyPr/>
                    <a:lstStyle/>
                    <a:p>
                      <a:r>
                        <a:rPr lang="en-IN" sz="1000" dirty="0"/>
                        <a:t>No.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Title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Authors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Publication Details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Key Findings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0531"/>
                  </a:ext>
                </a:extLst>
              </a:tr>
              <a:tr h="955621">
                <a:tc>
                  <a:txBody>
                    <a:bodyPr/>
                    <a:lstStyle/>
                    <a:p>
                      <a:r>
                        <a:rPr lang="en-IN" sz="1000" dirty="0"/>
                        <a:t>1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i="1" dirty="0"/>
                        <a:t>Effects of Feedback in Manufacturing: A Field Experiment Using Smartwatch Technology</a:t>
                      </a:r>
                      <a:endParaRPr lang="en-US" sz="1000" dirty="0"/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Daniel Kwasnitschka, Henrik Franke, Torbjørn H. Netland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i="1"/>
                        <a:t>Journal of Operations Management</a:t>
                      </a:r>
                      <a:r>
                        <a:rPr lang="en-US" sz="1000"/>
                        <a:t>, 70(6), April 2024 (</a:t>
                      </a:r>
                      <a:r>
                        <a:rPr lang="en-US" sz="1000">
                          <a:hlinkClick r:id="rId4" tooltip="[PDF] Effects of feedback in manufacturing: A field experiment using ..."/>
                        </a:rPr>
                        <a:t>CiteDrive</a:t>
                      </a:r>
                      <a:r>
                        <a:rPr lang="en-US" sz="1000"/>
                        <a:t>, </a:t>
                      </a:r>
                      <a:r>
                        <a:rPr lang="en-US" sz="1000">
                          <a:hlinkClick r:id="rId5" tooltip="Henrik Franke - SciProfiles"/>
                        </a:rPr>
                        <a:t>sciprofiles.com</a:t>
                      </a:r>
                      <a:r>
                        <a:rPr lang="en-US" sz="1000"/>
                        <a:t>)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Positively framed, individual-targeted real-time feedback via smartwatches significantly improves productivity in batch manufacturing environments. (</a:t>
                      </a:r>
                      <a:r>
                        <a:rPr lang="en-US" sz="1000">
                          <a:hlinkClick r:id="rId4" tooltip="[PDF] Effects of feedback in manufacturing: A field experiment using ..."/>
                        </a:rPr>
                        <a:t>CiteDrive</a:t>
                      </a:r>
                      <a:r>
                        <a:rPr lang="en-US" sz="1000"/>
                        <a:t>)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886027"/>
                  </a:ext>
                </a:extLst>
              </a:tr>
              <a:tr h="955621">
                <a:tc>
                  <a:txBody>
                    <a:bodyPr/>
                    <a:lstStyle/>
                    <a:p>
                      <a:r>
                        <a:rPr lang="en-IN" sz="1000" dirty="0"/>
                        <a:t>2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i="1"/>
                        <a:t>Worker-Machine Relationship-Based Strategy for Sustainable Management in A Machine Shop</a:t>
                      </a:r>
                      <a:endParaRPr lang="en-US" sz="1000"/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Shiela </a:t>
                      </a:r>
                      <a:r>
                        <a:rPr lang="en-IN" sz="1000" dirty="0" err="1"/>
                        <a:t>Mhay</a:t>
                      </a:r>
                      <a:r>
                        <a:rPr lang="en-IN" sz="1000" dirty="0"/>
                        <a:t> R. Dalisay; Arnie Lyn D. </a:t>
                      </a:r>
                      <a:r>
                        <a:rPr lang="en-IN" sz="1000" dirty="0" err="1"/>
                        <a:t>Alagos</a:t>
                      </a:r>
                      <a:r>
                        <a:rPr lang="en-IN" sz="1000" dirty="0"/>
                        <a:t>; </a:t>
                      </a:r>
                      <a:r>
                        <a:rPr lang="en-IN" sz="1000" dirty="0" err="1"/>
                        <a:t>Charmine</a:t>
                      </a:r>
                      <a:r>
                        <a:rPr lang="en-IN" sz="1000" dirty="0"/>
                        <a:t> Sheena Ramirez </a:t>
                      </a:r>
                      <a:r>
                        <a:rPr lang="en-IN" sz="1000" dirty="0" err="1"/>
                        <a:t>Saflor</a:t>
                      </a:r>
                      <a:r>
                        <a:rPr lang="en-IN" sz="1000" dirty="0"/>
                        <a:t>; </a:t>
                      </a:r>
                      <a:r>
                        <a:rPr lang="en-IN" sz="1000" dirty="0" err="1"/>
                        <a:t>Klint</a:t>
                      </a:r>
                      <a:r>
                        <a:rPr lang="en-IN" sz="1000" dirty="0"/>
                        <a:t> Allen </a:t>
                      </a:r>
                      <a:r>
                        <a:rPr lang="en-IN" sz="1000" dirty="0" err="1"/>
                        <a:t>Mariñas</a:t>
                      </a:r>
                      <a:endParaRPr lang="en-IN" sz="1000" dirty="0"/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International Conference on Industrial and Systems Engineering, Technology, Innovation, and Management — Bandung, Indonesia, April 2022 (</a:t>
                      </a:r>
                      <a:r>
                        <a:rPr lang="en-US" sz="1000" dirty="0">
                          <a:hlinkClick r:id="rId6" tooltip="(PDF) Worker-Machine Relationship Based Strategy for Sustainable Management in A Machine Shop"/>
                        </a:rPr>
                        <a:t>ResearchGate</a:t>
                      </a:r>
                      <a:r>
                        <a:rPr lang="en-US" sz="1000" dirty="0"/>
                        <a:t>)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Introduces a strategy focused on enhancing worker-machine relationships to support sustainable management in resource-intensive machine shop environments. (</a:t>
                      </a:r>
                      <a:r>
                        <a:rPr lang="en-US" sz="1000">
                          <a:hlinkClick r:id="rId6" tooltip="(PDF) Worker-Machine Relationship Based Strategy for Sustainable Management in A Machine Shop"/>
                        </a:rPr>
                        <a:t>ResearchGate</a:t>
                      </a:r>
                      <a:r>
                        <a:rPr lang="en-US" sz="1000"/>
                        <a:t>)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2585"/>
                  </a:ext>
                </a:extLst>
              </a:tr>
              <a:tr h="799373">
                <a:tc>
                  <a:txBody>
                    <a:bodyPr/>
                    <a:lstStyle/>
                    <a:p>
                      <a:r>
                        <a:rPr lang="en-IN" sz="1000"/>
                        <a:t>3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i="1"/>
                        <a:t>Intelligent Scheduling Methods for Optimisation of Job Shop Scheduling Problems in the Manufacturing Sector: A Systematic Review</a:t>
                      </a:r>
                      <a:endParaRPr lang="en-US" sz="1000"/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(Authors not fetched from open page)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i="1"/>
                        <a:t>Electronics</a:t>
                      </a:r>
                      <a:r>
                        <a:rPr lang="en-IN" sz="1000"/>
                        <a:t>, Vol. 14(8), MDPI, 2023 (</a:t>
                      </a:r>
                      <a:r>
                        <a:rPr lang="en-IN" sz="1000">
                          <a:hlinkClick r:id="rId7" tooltip="Intelligent Scheduling Methods for Optimisation of Job Shop Scheduling Problems in the Manufacturing Sector: A Systematic Review"/>
                        </a:rPr>
                        <a:t>MDPI</a:t>
                      </a:r>
                      <a:r>
                        <a:rPr lang="en-IN" sz="1000"/>
                        <a:t>)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 systematic review summarizing AI-driven and intelligent scheduling methodologies to solve complex job shop scheduling in manufacturing.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361990"/>
                  </a:ext>
                </a:extLst>
              </a:tr>
              <a:tr h="955621">
                <a:tc>
                  <a:txBody>
                    <a:bodyPr/>
                    <a:lstStyle/>
                    <a:p>
                      <a:r>
                        <a:rPr lang="en-IN" sz="1000"/>
                        <a:t>4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i="1" dirty="0"/>
                        <a:t>Movement Analytics: Current Status, Application to Manufacturing, and Future Prospects from an AI Perspective</a:t>
                      </a:r>
                      <a:endParaRPr lang="en-US" sz="1000" dirty="0"/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Peter Baumgartner; Daniel Smith; Mashud Rana; Reena Kapoor; Elena Tartaglia; Andreas Schutt; Ashfaqur Rahman; John Taylor; Simon Dunstall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arXiv</a:t>
                      </a:r>
                      <a:r>
                        <a:rPr lang="en-US" sz="1000" dirty="0"/>
                        <a:t> preprint (cs.AI), submitted 4 Oct 2022 (</a:t>
                      </a:r>
                      <a:r>
                        <a:rPr lang="en-US" sz="1000" dirty="0" err="1">
                          <a:hlinkClick r:id="rId8" tooltip="[2210.01344] Movement Analytics: Current Status, Application to Manufacturing, and Future Prospects from an AI Perspective"/>
                        </a:rPr>
                        <a:t>arXiv</a:t>
                      </a:r>
                      <a:r>
                        <a:rPr lang="en-US" sz="1000" dirty="0"/>
                        <a:t>)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Explores how IoT and tracking technologies facilitate movement analytics (e.g., tracking workers, trolleys) in manufacturing and discusses AI-based future directions. (</a:t>
                      </a:r>
                      <a:r>
                        <a:rPr lang="en-US" sz="1000" dirty="0" err="1">
                          <a:hlinkClick r:id="rId8" tooltip="[2210.01344] Movement Analytics: Current Status, Application to Manufacturing, and Future Prospects from an AI Perspective"/>
                        </a:rPr>
                        <a:t>arXiv</a:t>
                      </a:r>
                      <a:r>
                        <a:rPr lang="en-US" sz="1000" dirty="0"/>
                        <a:t>)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963632"/>
                  </a:ext>
                </a:extLst>
              </a:tr>
              <a:tr h="799373">
                <a:tc>
                  <a:txBody>
                    <a:bodyPr/>
                    <a:lstStyle/>
                    <a:p>
                      <a:r>
                        <a:rPr lang="en-IN" sz="1000"/>
                        <a:t>5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i="1" dirty="0"/>
                        <a:t>Time-Series Pattern Recognition in Smart Manufacturing Systems: A Literature Review and Ontology</a:t>
                      </a:r>
                      <a:endParaRPr lang="en-US" sz="1000" dirty="0"/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Mojtaba A. Farahani; M. R. McCormick; Robert Gianinny; Frank Hudacheck; Ramy Harik; Zhichao Liu; Thorsten Wuest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arXiv preprint (cs.ML), submitted Jan 29 2023, revised Mar 6 2023 (</a:t>
                      </a:r>
                      <a:r>
                        <a:rPr lang="en-US" sz="1000">
                          <a:hlinkClick r:id="rId9" tooltip="[2301.12495] Time-Series Pattern Recognition in Smart Manufacturing Systems: A Literature Review and Ontology"/>
                        </a:rPr>
                        <a:t>arXiv</a:t>
                      </a:r>
                      <a:r>
                        <a:rPr lang="en-US" sz="1000"/>
                        <a:t>)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Provides a literature review and ontology of time-series pattern recognition techniques for Industry 4.0 smart manufacturing systems. (</a:t>
                      </a:r>
                      <a:r>
                        <a:rPr lang="en-US" sz="1000">
                          <a:hlinkClick r:id="rId9" tooltip="[2301.12495] Time-Series Pattern Recognition in Smart Manufacturing Systems: A Literature Review and Ontology"/>
                        </a:rPr>
                        <a:t>arXiv</a:t>
                      </a:r>
                      <a:r>
                        <a:rPr lang="en-US" sz="1000"/>
                        <a:t>)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790799"/>
                  </a:ext>
                </a:extLst>
              </a:tr>
              <a:tr h="955621">
                <a:tc>
                  <a:txBody>
                    <a:bodyPr/>
                    <a:lstStyle/>
                    <a:p>
                      <a:r>
                        <a:rPr lang="en-IN" sz="1000"/>
                        <a:t>6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i="1" dirty="0"/>
                        <a:t>A Data-Oriented Shopfloor Management in the Production Context: A Systematic Literature Review</a:t>
                      </a:r>
                      <a:endParaRPr lang="en-US" sz="1000" dirty="0"/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Patrick Eichenseer, Herwig Winkler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i="1" dirty="0"/>
                        <a:t>International Journal of Advanced Manufacturing Technology</a:t>
                      </a:r>
                      <a:r>
                        <a:rPr lang="en-US" sz="1000" dirty="0"/>
                        <a:t>, Vol. 134, pp. 4071–4097, 17 Sep 2024 (</a:t>
                      </a:r>
                      <a:r>
                        <a:rPr lang="en-US" sz="1000" dirty="0">
                          <a:hlinkClick r:id="rId10" tooltip="A data-oriented shopfloor management in the production context: a systematic literature review | The International Journal of Advanced Manufacturing Technology&#10;        "/>
                        </a:rPr>
                        <a:t>SpringerLink</a:t>
                      </a:r>
                      <a:r>
                        <a:rPr lang="en-US" sz="1000" dirty="0"/>
                        <a:t>)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Reviews the evolution of data-oriented and digital shopfloor management approaches under Industry 4.0, highlighting the increasing role of data technologies. (</a:t>
                      </a:r>
                      <a:r>
                        <a:rPr lang="en-US" sz="1000" dirty="0">
                          <a:hlinkClick r:id="rId10" tooltip="A data-oriented shopfloor management in the production context: a systematic literature review | The International Journal of Advanced Manufacturing Technology&#10;        "/>
                        </a:rPr>
                        <a:t>SpringerLink</a:t>
                      </a:r>
                      <a:r>
                        <a:rPr lang="en-US" sz="1000" dirty="0"/>
                        <a:t>)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2185"/>
                  </a:ext>
                </a:extLst>
              </a:tr>
            </a:tbl>
          </a:graphicData>
        </a:graphic>
      </p:graphicFrame>
      <p:sp>
        <p:nvSpPr>
          <p:cNvPr id="6" name="Text 0">
            <a:extLst>
              <a:ext uri="{FF2B5EF4-FFF2-40B4-BE49-F238E27FC236}">
                <a16:creationId xmlns:a16="http://schemas.microsoft.com/office/drawing/2014/main" id="{754ECF69-F79B-8A26-15BF-0245A98B84BF}"/>
              </a:ext>
            </a:extLst>
          </p:cNvPr>
          <p:cNvSpPr/>
          <p:nvPr/>
        </p:nvSpPr>
        <p:spPr>
          <a:xfrm>
            <a:off x="435967" y="160954"/>
            <a:ext cx="475128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66"/>
              </a:lnSpc>
            </a:pPr>
            <a:r>
              <a:rPr lang="en-IN" sz="3667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3667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7493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1B9DD931-2917-4DC3-4905-29C7CDABC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56" y="524480"/>
            <a:ext cx="10162309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software/tools: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Tulip,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UpKeep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Prodsmart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digital shop-floor solutions.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 Designed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enterprises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costly, less suitable for SMEs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highlight importance of: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operator &amp; machine data logging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Job-shop scheduling &amp; productivity monitoring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Worker–machine allocation strategies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 life monitoring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operator-driven issue reporting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Weak link between data collection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production planning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631874" y="508821"/>
            <a:ext cx="475128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66"/>
              </a:lnSpc>
            </a:pPr>
            <a:r>
              <a:rPr lang="en-IN" sz="3667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3667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13DA9D42-971B-E079-D374-53A2CEF46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0335" y="5645"/>
            <a:ext cx="1261665" cy="59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99E112-EAF6-93EA-18A4-474E99A2C2D1}"/>
              </a:ext>
            </a:extLst>
          </p:cNvPr>
          <p:cNvSpPr txBox="1"/>
          <p:nvPr/>
        </p:nvSpPr>
        <p:spPr>
          <a:xfrm>
            <a:off x="4498235" y="6505241"/>
            <a:ext cx="319553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 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2739FB-FDB2-E21E-F47C-BD2161E9967D}"/>
              </a:ext>
            </a:extLst>
          </p:cNvPr>
          <p:cNvSpPr txBox="1"/>
          <p:nvPr/>
        </p:nvSpPr>
        <p:spPr>
          <a:xfrm>
            <a:off x="631874" y="1681009"/>
            <a:ext cx="1068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3654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874" y="741830"/>
            <a:ext cx="475128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66"/>
              </a:lnSpc>
            </a:pPr>
            <a:r>
              <a:rPr lang="en-IN" sz="3667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endParaRPr lang="en-US" sz="3667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13DA9D42-971B-E079-D374-53A2CEF46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0335" y="5645"/>
            <a:ext cx="1261665" cy="59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99E112-EAF6-93EA-18A4-474E99A2C2D1}"/>
              </a:ext>
            </a:extLst>
          </p:cNvPr>
          <p:cNvSpPr txBox="1"/>
          <p:nvPr/>
        </p:nvSpPr>
        <p:spPr>
          <a:xfrm>
            <a:off x="4498235" y="6505241"/>
            <a:ext cx="319553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 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6268D3C-D721-6647-E8BD-B81DCF9F1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747" y="1828928"/>
            <a:ext cx="919995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 the tracking of operator in/out time, cycle time, job counts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 job quality status (OK, CR, MR, rework)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operators to report downtime causes (machine breakdown, power cut, setup time, etc.)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 operator efficiency and machine efficiency in real-time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 a special feature for tool life monitoring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outputs into a production plan (company name, component name, quantity)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7418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446" y="599370"/>
            <a:ext cx="475128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66"/>
              </a:lnSpc>
            </a:pPr>
            <a:r>
              <a:rPr lang="en-IN" sz="3667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667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13DA9D42-971B-E079-D374-53A2CEF46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0335" y="5645"/>
            <a:ext cx="1261665" cy="59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99E112-EAF6-93EA-18A4-474E99A2C2D1}"/>
              </a:ext>
            </a:extLst>
          </p:cNvPr>
          <p:cNvSpPr txBox="1"/>
          <p:nvPr/>
        </p:nvSpPr>
        <p:spPr>
          <a:xfrm>
            <a:off x="4498235" y="6505241"/>
            <a:ext cx="319553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 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3493918-6032-5508-4BE6-FD16C80DC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446" y="1304985"/>
            <a:ext cx="772743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Requirement gathering from machine shop owners/operators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Designing system architecture (input, processing, output modules)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Developing the mobile app interface for operator input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Creating backend database to store shift/job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Designing analytics engine for calculating efficiency and productivity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6: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tool life monitoring feature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7: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Testing and validating with shop-floor trial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413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78904329-9E7C-3E8B-5A00-B93590569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0335" y="5645"/>
            <a:ext cx="1261665" cy="59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A9C798-9A5D-E66E-A5C3-8337B0516B62}"/>
              </a:ext>
            </a:extLst>
          </p:cNvPr>
          <p:cNvSpPr txBox="1"/>
          <p:nvPr/>
        </p:nvSpPr>
        <p:spPr>
          <a:xfrm>
            <a:off x="4498235" y="6505241"/>
            <a:ext cx="319553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 </a:t>
            </a:r>
          </a:p>
          <a:p>
            <a:endParaRPr lang="en-IN" sz="1500" dirty="0"/>
          </a:p>
        </p:txBody>
      </p:sp>
      <p:pic>
        <p:nvPicPr>
          <p:cNvPr id="3" name="Picture 2" descr="A diagram of a workflow&#10;&#10;Description automatically generated">
            <a:extLst>
              <a:ext uri="{FF2B5EF4-FFF2-40B4-BE49-F238E27FC236}">
                <a16:creationId xmlns:a16="http://schemas.microsoft.com/office/drawing/2014/main" id="{A276C239-5307-0C95-CC79-F68C85FA78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61"/>
          <a:stretch/>
        </p:blipFill>
        <p:spPr>
          <a:xfrm>
            <a:off x="1969817" y="308568"/>
            <a:ext cx="8252365" cy="60786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8764" y="464091"/>
            <a:ext cx="475128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66"/>
              </a:lnSpc>
            </a:pPr>
            <a:r>
              <a:rPr lang="en-IN" sz="3667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 </a:t>
            </a:r>
            <a:endParaRPr lang="en-US" sz="3667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13DA9D42-971B-E079-D374-53A2CEF46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0335" y="5645"/>
            <a:ext cx="1261665" cy="59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99E112-EAF6-93EA-18A4-474E99A2C2D1}"/>
              </a:ext>
            </a:extLst>
          </p:cNvPr>
          <p:cNvSpPr txBox="1"/>
          <p:nvPr/>
        </p:nvSpPr>
        <p:spPr>
          <a:xfrm>
            <a:off x="4498235" y="6505241"/>
            <a:ext cx="319553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 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1077712-2465-019B-1A2D-7D5E928DB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764" y="1567168"/>
            <a:ext cx="642355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Reduction in manual record-keeping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efficiency calculation (operator + machine)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in job tracking &amp; downtime reporting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production planning with live data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 life optimization, reducing tool cost and downtime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productivity rate and income estimation for the owner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5708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logo with text on it&#10;&#10;Description automatically generated">
            <a:extLst>
              <a:ext uri="{FF2B5EF4-FFF2-40B4-BE49-F238E27FC236}">
                <a16:creationId xmlns:a16="http://schemas.microsoft.com/office/drawing/2014/main" id="{78904329-9E7C-3E8B-5A00-B93590569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0335" y="5645"/>
            <a:ext cx="1261665" cy="59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A9C798-9A5D-E66E-A5C3-8337B0516B62}"/>
              </a:ext>
            </a:extLst>
          </p:cNvPr>
          <p:cNvSpPr txBox="1"/>
          <p:nvPr/>
        </p:nvSpPr>
        <p:spPr>
          <a:xfrm>
            <a:off x="4498235" y="6505241"/>
            <a:ext cx="319553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 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56EA9C7C-B7AE-6EC1-213A-55D3E853E5AF}"/>
              </a:ext>
            </a:extLst>
          </p:cNvPr>
          <p:cNvSpPr/>
          <p:nvPr/>
        </p:nvSpPr>
        <p:spPr>
          <a:xfrm>
            <a:off x="631874" y="653353"/>
            <a:ext cx="475128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66"/>
              </a:lnSpc>
            </a:pPr>
            <a:r>
              <a:rPr lang="en-IN" sz="3667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Plan (Tentative) </a:t>
            </a:r>
            <a:endParaRPr lang="en-US" sz="3667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extBox 6">
            <a:extLst>
              <a:ext uri="{FF2B5EF4-FFF2-40B4-BE49-F238E27FC236}">
                <a16:creationId xmlns:a16="http://schemas.microsoft.com/office/drawing/2014/main" id="{0967E5B2-BC1F-D43D-E19A-447CBE9449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2812150"/>
              </p:ext>
            </p:extLst>
          </p:nvPr>
        </p:nvGraphicFramePr>
        <p:xfrm>
          <a:off x="631874" y="1953491"/>
          <a:ext cx="9123218" cy="313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719087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9">
            <a:extLst>
              <a:ext uri="{FF2B5EF4-FFF2-40B4-BE49-F238E27FC236}">
                <a16:creationId xmlns:a16="http://schemas.microsoft.com/office/drawing/2014/main" id="{F5DF1A1C-49FD-EC3F-02B0-906DACD2F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955138"/>
            <a:ext cx="1120648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Tulip Interfaces –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Manufacturing Apps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https://tulip.co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UpKeep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Maintenance Management Software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https://www.onupkeep.com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Prodsmart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Autodesk –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Execution System (MES)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https://www.autodesk.com/prodsmart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 Order &amp; Productivity Tracking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https://www.getmaintainx.com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articles on MES, Digital Productivity Monitoring, and Tool Life Management (IEEE, ScienceDirect, Springer).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254000" y="749263"/>
            <a:ext cx="475128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66"/>
              </a:lnSpc>
            </a:pPr>
            <a:r>
              <a:rPr lang="en-IN" sz="3667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IN" sz="3667" b="1" u="sng" dirty="0"/>
              <a:t> </a:t>
            </a:r>
            <a:endParaRPr lang="en-US" sz="3667" b="1" u="sng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13DA9D42-971B-E079-D374-53A2CEF46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0335" y="5645"/>
            <a:ext cx="1261665" cy="59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99E112-EAF6-93EA-18A4-474E99A2C2D1}"/>
              </a:ext>
            </a:extLst>
          </p:cNvPr>
          <p:cNvSpPr txBox="1"/>
          <p:nvPr/>
        </p:nvSpPr>
        <p:spPr>
          <a:xfrm>
            <a:off x="4498235" y="6505241"/>
            <a:ext cx="319553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 </a:t>
            </a:r>
          </a:p>
          <a:p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4296104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0901" y="2563818"/>
            <a:ext cx="4527829" cy="999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666"/>
              </a:lnSpc>
            </a:pPr>
            <a:r>
              <a:rPr lang="en-US" sz="4500" b="1" dirty="0">
                <a:solidFill>
                  <a:srgbClr val="1F1E1E"/>
                </a:solidFill>
                <a:latin typeface="Times New Roman" panose="02020603050405020304" pitchFamily="18" charset="0"/>
                <a:ea typeface="Alexandria Semi Bold" pitchFamily="34" charset="-122"/>
                <a:cs typeface="Times New Roman" panose="02020603050405020304" pitchFamily="18" charset="0"/>
              </a:rPr>
              <a:t>THANK YOU !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1924" y="3603563"/>
            <a:ext cx="10928152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50"/>
              </a:lnSpc>
            </a:pPr>
            <a:r>
              <a:rPr lang="en-US" sz="2667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ANY QUESTIONS ?</a:t>
            </a:r>
            <a:endParaRPr lang="en-US" sz="2667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8904329-9E7C-3E8B-5A00-B93590569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30335" y="5645"/>
            <a:ext cx="1261665" cy="59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A9C798-9A5D-E66E-A5C3-8337B0516B62}"/>
              </a:ext>
            </a:extLst>
          </p:cNvPr>
          <p:cNvSpPr txBox="1"/>
          <p:nvPr/>
        </p:nvSpPr>
        <p:spPr>
          <a:xfrm>
            <a:off x="4498235" y="6505241"/>
            <a:ext cx="319553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 </a:t>
            </a:r>
          </a:p>
          <a:p>
            <a:endParaRPr lang="en-IN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1160</Words>
  <Application>Microsoft Office PowerPoint</Application>
  <PresentationFormat>Widescreen</PresentationFormat>
  <Paragraphs>154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Arial Black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KULKARNI ADITYA JAYANT</dc:creator>
  <cp:lastModifiedBy>KULKARNI ADITYA JAYANT</cp:lastModifiedBy>
  <cp:revision>1</cp:revision>
  <dcterms:created xsi:type="dcterms:W3CDTF">2025-08-23T05:22:14Z</dcterms:created>
  <dcterms:modified xsi:type="dcterms:W3CDTF">2025-08-23T07:17:06Z</dcterms:modified>
</cp:coreProperties>
</file>